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6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90392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564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731520"/>
            <a:ext cx="1828800" cy="1828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1005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502920" y="182880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Mühendisliği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502920" y="2788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Kaliteli yazılım için test süreçleri, yöntemleri ve araçlar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02920" y="4389120"/>
            <a:ext cx="832104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4805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Kalite Güvencesi  •  Test Otomasyonu  •  QA Süreçleri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2860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6459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Testi Nedir?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320040" y="109728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20040" y="1097280"/>
            <a:ext cx="4114800" cy="1097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34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173736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testi; bir uygulamanın beklendiği gibi çalışıp çalışmadığını doğrulamak için yapılan sistematik süreçtir.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Hataları erken aşamada tespit etmek, yazılım kalitesini artırmak ve kullanıcı memnuniyetini sağlamak temel hedeflerdir.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709160" y="109728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1097280"/>
            <a:ext cx="109728" cy="10058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3533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4068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Doğrulama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440680" y="15727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Yazılımın gereksinimlere uygunluğunu kontrol eder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709160" y="228600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709160" y="2286000"/>
            <a:ext cx="109728" cy="10058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254203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4068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Güvenilirlik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5440680" y="276148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Sistemin stabil ve güvenli çalışmasını sağlar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709160" y="347472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09160" y="3474720"/>
            <a:ext cx="109728" cy="10058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730752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40680" y="3566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440680" y="39502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kullanıcıya kusursuz deneyim sunar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2860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6459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Türleri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74320" y="1097280"/>
            <a:ext cx="20574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74320" y="1097280"/>
            <a:ext cx="205740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4"/>
          <p:cNvSpPr/>
          <p:nvPr/>
        </p:nvSpPr>
        <p:spPr>
          <a:xfrm>
            <a:off x="347472" y="1115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74320" y="18288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 Testi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74320" y="23317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2670048"/>
            <a:ext cx="13258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8"/>
          <p:cNvSpPr/>
          <p:nvPr/>
        </p:nvSpPr>
        <p:spPr>
          <a:xfrm>
            <a:off x="384048" y="278892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küçük kod parçalarının (fonksiyon, metot) bağımsız olarak test edilmesi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560320" y="1097280"/>
            <a:ext cx="20574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60320" y="1097280"/>
            <a:ext cx="2057400" cy="6400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4" name="Text 11"/>
          <p:cNvSpPr/>
          <p:nvPr/>
        </p:nvSpPr>
        <p:spPr>
          <a:xfrm>
            <a:off x="2633472" y="1115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2560320" y="18288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Entegrasyon Testi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560320" y="23317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926080" y="2670048"/>
            <a:ext cx="132588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8" name="Text 15"/>
          <p:cNvSpPr/>
          <p:nvPr/>
        </p:nvSpPr>
        <p:spPr>
          <a:xfrm>
            <a:off x="2670048" y="278892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Birden fazla modülün birlikte doğru çalışıp çalışmadığının doğrulanması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846320" y="1097280"/>
            <a:ext cx="20574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846320" y="1097280"/>
            <a:ext cx="2057400" cy="640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8"/>
          <p:cNvSpPr/>
          <p:nvPr/>
        </p:nvSpPr>
        <p:spPr>
          <a:xfrm>
            <a:off x="4919472" y="1115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4846320" y="18288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Testi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846320" y="23317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Test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212080" y="2670048"/>
            <a:ext cx="132588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Text 22"/>
          <p:cNvSpPr/>
          <p:nvPr/>
        </p:nvSpPr>
        <p:spPr>
          <a:xfrm>
            <a:off x="4956048" y="278892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sistemin uçtan uca işlevselliğinin test edilmesi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2320" y="1097280"/>
            <a:ext cx="20574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132320" y="1097280"/>
            <a:ext cx="2057400" cy="640080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28" name="Text 25"/>
          <p:cNvSpPr/>
          <p:nvPr/>
        </p:nvSpPr>
        <p:spPr>
          <a:xfrm>
            <a:off x="7205472" y="1115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7132320" y="18288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Kabul Testi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7132320" y="23317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498080" y="2670048"/>
            <a:ext cx="1325880" cy="3657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32" name="Text 29"/>
          <p:cNvSpPr/>
          <p:nvPr/>
        </p:nvSpPr>
        <p:spPr>
          <a:xfrm>
            <a:off x="7242048" y="278892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Yazılımın gerçek kullanıcı gereksinimlerini karşılayıp karşılamadığını ölçer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Süreci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testinin temel adımları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21792" y="141732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417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572768" y="1874520"/>
            <a:ext cx="4114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74320" y="2560320"/>
            <a:ext cx="1600200" cy="1737360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2560320"/>
            <a:ext cx="1600200" cy="6400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6974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Planlama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3154680"/>
            <a:ext cx="14173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kapsamı ve strateji belirlenir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40864" y="1417320"/>
            <a:ext cx="914400" cy="9144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2" name="Text 10"/>
          <p:cNvSpPr/>
          <p:nvPr/>
        </p:nvSpPr>
        <p:spPr>
          <a:xfrm>
            <a:off x="2340864" y="1417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3291840" y="1874520"/>
            <a:ext cx="4114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993392" y="2560320"/>
            <a:ext cx="1600200" cy="1737360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93392" y="2560320"/>
            <a:ext cx="1600200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6" name="Text 14"/>
          <p:cNvSpPr/>
          <p:nvPr/>
        </p:nvSpPr>
        <p:spPr>
          <a:xfrm>
            <a:off x="1993392" y="26974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084832" y="3154680"/>
            <a:ext cx="14173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Gereksinimler ve riskler incelenir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059936" y="1417320"/>
            <a:ext cx="914400" cy="9144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059936" y="1417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5010912" y="1874520"/>
            <a:ext cx="4114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712464" y="2560320"/>
            <a:ext cx="1600200" cy="1737360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712464" y="2560320"/>
            <a:ext cx="16002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3712464" y="26974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03904" y="3154680"/>
            <a:ext cx="14173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senaryoları ve durumları yazılır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79008" y="1417320"/>
            <a:ext cx="914400" cy="914400"/>
          </a:xfrm>
          <a:prstGeom prst="ellipse">
            <a:avLst/>
          </a:prstGeom>
          <a:solidFill>
            <a:srgbClr val="BE185D"/>
          </a:solidFill>
          <a:ln/>
        </p:spPr>
      </p:sp>
      <p:sp>
        <p:nvSpPr>
          <p:cNvPr id="26" name="Text 24"/>
          <p:cNvSpPr/>
          <p:nvPr/>
        </p:nvSpPr>
        <p:spPr>
          <a:xfrm>
            <a:off x="5779008" y="1417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7" name="Shape 25"/>
          <p:cNvSpPr/>
          <p:nvPr/>
        </p:nvSpPr>
        <p:spPr>
          <a:xfrm>
            <a:off x="6729984" y="1874520"/>
            <a:ext cx="4114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431536" y="2560320"/>
            <a:ext cx="1600200" cy="1737360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31536" y="2560320"/>
            <a:ext cx="1600200" cy="64008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30" name="Text 28"/>
          <p:cNvSpPr/>
          <p:nvPr/>
        </p:nvSpPr>
        <p:spPr>
          <a:xfrm>
            <a:off x="5431536" y="26974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522976" y="3154680"/>
            <a:ext cx="14173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Testler çalıştırılır, sonuçlar kaydedilir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498080" y="1417320"/>
            <a:ext cx="914400" cy="91440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0" y="1417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34" name="Shape 32"/>
          <p:cNvSpPr/>
          <p:nvPr/>
        </p:nvSpPr>
        <p:spPr>
          <a:xfrm>
            <a:off x="7150608" y="2560320"/>
            <a:ext cx="1600200" cy="1737360"/>
          </a:xfrm>
          <a:prstGeom prst="rect">
            <a:avLst/>
          </a:prstGeom>
          <a:solidFill>
            <a:srgbClr val="162032"/>
          </a:solidFill>
          <a:ln/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50608" y="2560320"/>
            <a:ext cx="1600200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Text 34"/>
          <p:cNvSpPr/>
          <p:nvPr/>
        </p:nvSpPr>
        <p:spPr>
          <a:xfrm>
            <a:off x="7150608" y="26974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Raporlama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242048" y="3154680"/>
            <a:ext cx="14173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Hatalar raporlanır, düzeltmeler doğrulanır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2860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6459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Mühendisinin Rolü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320040" y="10972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Sorumluluklar</a:t>
            </a:r>
            <a:endParaRPr lang="en-US" sz="1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82496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9808" y="16459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planı ve strateji hazırlamak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185416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49808" y="21488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senaryoları ve test durumları oluşturmak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688336"/>
            <a:ext cx="320040" cy="32004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49808" y="2651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ve otomatik testleri çalıştırmak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191256"/>
            <a:ext cx="320040" cy="32004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49808" y="31546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Hataları (bug) raporlamak ve takip etmek</a:t>
            </a:r>
            <a:endParaRPr lang="en-US" sz="13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694176"/>
            <a:ext cx="320040" cy="32004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749808" y="36576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geliştirme ekibiyle koordineli çalışmak</a:t>
            </a:r>
            <a:endParaRPr lang="en-US" sz="130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4197096"/>
            <a:ext cx="320040" cy="320040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749808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Yazılımın yayına alınmaya hazır olduğunu onaylamak</a:t>
            </a:r>
            <a:endParaRPr lang="en-US" sz="1300" dirty="0"/>
          </a:p>
        </p:txBody>
      </p:sp>
      <p:sp>
        <p:nvSpPr>
          <p:cNvPr id="18" name="Shape 9"/>
          <p:cNvSpPr/>
          <p:nvPr/>
        </p:nvSpPr>
        <p:spPr>
          <a:xfrm>
            <a:off x="5029200" y="1097280"/>
            <a:ext cx="3794760" cy="146304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Text 10"/>
          <p:cNvSpPr/>
          <p:nvPr/>
        </p:nvSpPr>
        <p:spPr>
          <a:xfrm>
            <a:off x="5029200" y="123444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5200" dirty="0"/>
          </a:p>
        </p:txBody>
      </p:sp>
      <p:sp>
        <p:nvSpPr>
          <p:cNvPr id="20" name="Text 11"/>
          <p:cNvSpPr/>
          <p:nvPr/>
        </p:nvSpPr>
        <p:spPr>
          <a:xfrm>
            <a:off x="5120640" y="187452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Hataların %85'i geliştirme aşamasında tespit edilebilir</a:t>
            </a:r>
            <a:endParaRPr lang="en-US" sz="1200" dirty="0"/>
          </a:p>
        </p:txBody>
      </p:sp>
      <p:sp>
        <p:nvSpPr>
          <p:cNvPr id="21" name="Shape 12"/>
          <p:cNvSpPr/>
          <p:nvPr/>
        </p:nvSpPr>
        <p:spPr>
          <a:xfrm>
            <a:off x="5029200" y="2743200"/>
            <a:ext cx="3794760" cy="1463040"/>
          </a:xfrm>
          <a:prstGeom prst="rect">
            <a:avLst/>
          </a:prstGeom>
          <a:solidFill>
            <a:srgbClr val="0D1B2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Text 13"/>
          <p:cNvSpPr/>
          <p:nvPr/>
        </p:nvSpPr>
        <p:spPr>
          <a:xfrm>
            <a:off x="5029200" y="288036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6x</a:t>
            </a:r>
            <a:endParaRPr lang="en-US" sz="5200" dirty="0"/>
          </a:p>
        </p:txBody>
      </p:sp>
      <p:sp>
        <p:nvSpPr>
          <p:cNvPr id="23" name="Text 14"/>
          <p:cNvSpPr/>
          <p:nvPr/>
        </p:nvSpPr>
        <p:spPr>
          <a:xfrm>
            <a:off x="5120640" y="35204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 tespit, hata düzeltme maliyetini 6 kat azaltır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2860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6459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Araçlar &amp; Teknolojiler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74320" y="1097280"/>
            <a:ext cx="40233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74320" y="1097280"/>
            <a:ext cx="4023360" cy="502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4"/>
          <p:cNvSpPr/>
          <p:nvPr/>
        </p:nvSpPr>
        <p:spPr>
          <a:xfrm>
            <a:off x="411480" y="11704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Otomasyon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11480" y="178308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17830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691640" y="178308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691640" y="17830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Cypress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71800" y="178308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71800" y="17830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63440" y="1097280"/>
            <a:ext cx="4023360" cy="5029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1704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Testi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800600" y="178308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4800600" y="17830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080760" y="178308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6080760" y="17830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60920" y="178308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7360920" y="17830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SoapUI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74320" y="3063240"/>
            <a:ext cx="40233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74320" y="3063240"/>
            <a:ext cx="402336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Text 22"/>
          <p:cNvSpPr/>
          <p:nvPr/>
        </p:nvSpPr>
        <p:spPr>
          <a:xfrm>
            <a:off x="411480" y="313639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11480" y="374904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411480" y="3749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JMeter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691640" y="374904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691640" y="3749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Gatling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971800" y="374904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971800" y="3749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663440" y="3063240"/>
            <a:ext cx="40233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663440" y="3063240"/>
            <a:ext cx="4023360" cy="502920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34" name="Text 31"/>
          <p:cNvSpPr/>
          <p:nvPr/>
        </p:nvSpPr>
        <p:spPr>
          <a:xfrm>
            <a:off x="4800600" y="313639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 Takibi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4800600" y="374904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4800600" y="3749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080760" y="374904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6080760" y="3749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Bugzilla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7360920" y="3749040"/>
            <a:ext cx="10972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7360920" y="3749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TestRail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822960"/>
            <a:ext cx="2103120" cy="2103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9144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Et,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Güvenle Yayınla!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502920" y="26517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Kaliteli yazılım, titiz test süreçlerinin ürünüdür.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mühendisliği; sadece hata bulmak değil, kaliteyi yaşatmaktır.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370332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36576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erken, test sık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405079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0050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Otomasyonu benimse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4398264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43525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Kaliteyi sahiplen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9144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1803527" y="80467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kern="0" spc="500" dirty="0">
                <a:solidFill>
                  <a:srgbClr val="FFFFFF"/>
                </a:solidFill>
              </a:rPr>
              <a:t>TEŞEKKÜRLER</a:t>
            </a:r>
            <a:endParaRPr lang="en-US" sz="5400" dirty="0"/>
          </a:p>
          <a:p>
            <a:pPr marL="0" indent="0">
              <a:buNone/>
            </a:pPr>
            <a:endParaRPr lang="en-US" sz="5000" dirty="0"/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2052DFEA-4757-4CAD-8FD5-3505F8070A4B}"/>
              </a:ext>
            </a:extLst>
          </p:cNvPr>
          <p:cNvSpPr/>
          <p:nvPr/>
        </p:nvSpPr>
        <p:spPr>
          <a:xfrm>
            <a:off x="956996" y="1972450"/>
            <a:ext cx="3108960" cy="1691640"/>
          </a:xfrm>
          <a:prstGeom prst="rect">
            <a:avLst/>
          </a:prstGeom>
          <a:solidFill>
            <a:srgbClr val="0D1F3C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83E9AC8F-459D-45FA-8C71-E6A76C370801}"/>
              </a:ext>
            </a:extLst>
          </p:cNvPr>
          <p:cNvSpPr/>
          <p:nvPr/>
        </p:nvSpPr>
        <p:spPr>
          <a:xfrm>
            <a:off x="1076265" y="2120159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BFA3"/>
                </a:solidFill>
              </a:rPr>
              <a:t>Kullanılan Teknolojiler</a:t>
            </a:r>
            <a:endParaRPr lang="en-US" sz="1100" dirty="0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E2D2B0B-2DAC-4687-A6AB-A51B380F8E0C}"/>
              </a:ext>
            </a:extLst>
          </p:cNvPr>
          <p:cNvSpPr/>
          <p:nvPr/>
        </p:nvSpPr>
        <p:spPr>
          <a:xfrm>
            <a:off x="1002432" y="2543637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</a:rPr>
              <a:t>☕ Java 21</a:t>
            </a:r>
            <a:endParaRPr lang="en-US" sz="100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375FCD2-C86A-4A4A-8F1B-5CEAC8A291F8}"/>
              </a:ext>
            </a:extLst>
          </p:cNvPr>
          <p:cNvSpPr/>
          <p:nvPr/>
        </p:nvSpPr>
        <p:spPr>
          <a:xfrm>
            <a:off x="1002432" y="2799669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</a:rPr>
              <a:t>📦 Maven</a:t>
            </a:r>
            <a:endParaRPr lang="en-US" sz="10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DC7C7872-CE62-4E1A-8E7B-A2F21B1C9C91}"/>
              </a:ext>
            </a:extLst>
          </p:cNvPr>
          <p:cNvSpPr/>
          <p:nvPr/>
        </p:nvSpPr>
        <p:spPr>
          <a:xfrm>
            <a:off x="956996" y="3055701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</a:rPr>
              <a:t>🧪 JUnit 5</a:t>
            </a:r>
            <a:endParaRPr lang="en-US" sz="1000" dirty="0"/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8BCAC82E-8E37-42FA-82F6-01A908BBFA88}"/>
              </a:ext>
            </a:extLst>
          </p:cNvPr>
          <p:cNvSpPr/>
          <p:nvPr/>
        </p:nvSpPr>
        <p:spPr>
          <a:xfrm>
            <a:off x="956996" y="330936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</a:rPr>
              <a:t>🔗 Rest Assured 5.4</a:t>
            </a:r>
            <a:endParaRPr lang="en-US" sz="1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25225D7-304F-4044-9561-78AB6B405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489" y="2015017"/>
            <a:ext cx="3114675" cy="1695450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4A89279B-3E04-49BB-A4E8-8322E81BA96B}"/>
              </a:ext>
            </a:extLst>
          </p:cNvPr>
          <p:cNvSpPr/>
          <p:nvPr/>
        </p:nvSpPr>
        <p:spPr>
          <a:xfrm>
            <a:off x="5585791" y="2177877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BFA3"/>
                </a:solidFill>
              </a:rPr>
              <a:t>🐙 GitHub</a:t>
            </a:r>
            <a:endParaRPr lang="en-US" sz="1400" dirty="0"/>
          </a:p>
        </p:txBody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E04DB4B3-4216-4C3B-B613-A1977B9286BD}"/>
              </a:ext>
            </a:extLst>
          </p:cNvPr>
          <p:cNvSpPr/>
          <p:nvPr/>
        </p:nvSpPr>
        <p:spPr>
          <a:xfrm>
            <a:off x="5631226" y="2689941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</a:rPr>
              <a:t>github.com/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F4FD"/>
                </a:solidFill>
              </a:rPr>
              <a:t>mxesaie/api-tests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925276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319</Words>
  <Application>Microsoft Office PowerPoint</Application>
  <PresentationFormat>On-screen Show (16:9)</PresentationFormat>
  <Paragraphs>102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Yazılım Test Mühendisliği</dc:title>
  <dc:subject>PptxGenJS Presentation</dc:subject>
  <dc:creator>PptxGenJS</dc:creator>
  <cp:lastModifiedBy>Esaie</cp:lastModifiedBy>
  <cp:revision>3</cp:revision>
  <dcterms:created xsi:type="dcterms:W3CDTF">2026-05-22T12:21:22Z</dcterms:created>
  <dcterms:modified xsi:type="dcterms:W3CDTF">2026-05-22T14:20:27Z</dcterms:modified>
</cp:coreProperties>
</file>